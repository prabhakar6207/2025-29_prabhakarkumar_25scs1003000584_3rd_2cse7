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B2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1B2F"/>
                </a:solidFill>
                <a:latin typeface="Calibri"/>
              </a:rPr>
              <a:t>Class Distribution (5,000 messages)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Messages</c:v>
                </c:pt>
              </c:strCache>
            </c:strRef>
          </c:tx>
          <c:spPr>
            <a:solidFill>
              <a:srgbClr val="1D9A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A6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Ham</c:v>
                  </c:pt>
                  <c:pt idx="1">
                    <c:v>Spam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2500</c:v>
                </c:pt>
                <c:pt idx="1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B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0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Shape 1"/>
          <p:cNvSpPr/>
          <p:nvPr/>
        </p:nvSpPr>
        <p:spPr>
          <a:xfrm>
            <a:off x="5184648" y="8311896"/>
            <a:ext cx="3840480" cy="384048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Shape 2"/>
          <p:cNvSpPr/>
          <p:nvPr/>
        </p:nvSpPr>
        <p:spPr>
          <a:xfrm>
            <a:off x="3186684" y="3291840"/>
            <a:ext cx="1188720" cy="11887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spam_ppt/icon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1977" y="357713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754880"/>
            <a:ext cx="646480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EMAIL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6309360"/>
            <a:ext cx="60990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Spam with Natural Language Processing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Machine Learning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32404" y="7223760"/>
            <a:ext cx="109728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7406640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Internship Project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9683496"/>
            <a:ext cx="6464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 •  Multinomial Naive Bayes  •  Streamlit App</a:t>
            </a:r>
            <a:endParaRPr 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548640" y="7850000"/>
            <a:ext cx="6464808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Prabhakar Kumar</a:t>
            </a:r>
          </a:p>
          <a:p>
            <a:pPr algn="ctr"/>
            <a:r>
              <a:rPr sz="1200">
                <a:solidFill>
                  <a:srgbClr val="9BA8D9"/>
                </a:solidFill>
                <a:latin typeface="Calibri"/>
              </a:rPr>
              <a:t>Class: 2CSE7   |   Roll No: 25SCS1003000584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7F8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8191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8191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1581912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spam detection matters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4884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488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148840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build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271576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1576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715768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the model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00984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28269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28269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023360" y="3282696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preparing text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7F8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849624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84962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3849624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words into numbers (TF-IDF)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434840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441655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41655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023360" y="4416552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explained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5001768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7F8F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498348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98348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023360" y="4983480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of the system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5568696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5550408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55504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Testing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023360" y="5550408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model was built and split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02920" y="6135624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7F8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" y="6117336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611733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4023360" y="6117336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confusion matrix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2920" y="6702552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" y="6684264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1280160" y="668426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4023360" y="6684264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 walkthrough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02920" y="7269480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7F8F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0080" y="7251192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1280160" y="725119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Highlights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4023360" y="7251192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snippets from the project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02920" y="7836408"/>
            <a:ext cx="6556248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0080" y="7818120"/>
            <a:ext cx="548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280160" y="781812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4023360" y="7818120"/>
            <a:ext cx="2898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MOTIVATION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emails are more than an annoyance — they clutter inboxes, waste time, and are a common vector for phishing and fraud. Manually filtering them does not scale.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spam_ppt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50" y="2755270"/>
            <a:ext cx="323332" cy="3233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587752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overload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935224"/>
            <a:ext cx="5687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clutters inboxes with scams, ads, and phishing attempts every single day, burying important messages.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9776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home/claude/spam_ppt/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" y="4126870"/>
            <a:ext cx="323332" cy="3233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959352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306824"/>
            <a:ext cx="5687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spam can carry phishing links, malware, or scams that put users and organizations at real risk.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53492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4" name="Image 2" descr="/home/claude/spam_ppt/icon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" y="5498470"/>
            <a:ext cx="323332" cy="3233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5330952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rules don't scale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5678424"/>
            <a:ext cx="56875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keyword-based filters miss new spam patterns and often wrongly flag genuine emails as spam.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2920" y="6903720"/>
            <a:ext cx="6556248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77240" y="708660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45%+</a:t>
            </a:r>
            <a:endParaRPr lang="en-US" sz="3600" dirty="0"/>
          </a:p>
        </p:txBody>
      </p:sp>
      <p:sp>
        <p:nvSpPr>
          <p:cNvPr id="19" name="Shape 14"/>
          <p:cNvSpPr/>
          <p:nvPr/>
        </p:nvSpPr>
        <p:spPr>
          <a:xfrm>
            <a:off x="2880360" y="7178040"/>
            <a:ext cx="0" cy="822960"/>
          </a:xfrm>
          <a:prstGeom prst="line">
            <a:avLst/>
          </a:prstGeom>
          <a:noFill/>
          <a:ln w="12700">
            <a:solidFill>
              <a:srgbClr val="3A468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108960" y="7040880"/>
            <a:ext cx="3721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email traffic is estimated to be spam — an automated, learning-based filter is essential.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GOAL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machine learning system that automatically classifies an email message as Spam or Not Spam (Ham), and deliver it through a simple, interactive web app that anyone can use.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17296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home/claude/spam_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326587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990088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data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3383280"/>
            <a:ext cx="5184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labeled dataset of 5,000 spam and ham messages.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4416552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/home/claude/spam_ppt/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49542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4617720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text with NLP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5010912"/>
            <a:ext cx="5184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text into numeric features a model can learn from.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6044184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642823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/home/claude/spam_ppt/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6581851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6245352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accurately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6638544"/>
            <a:ext cx="5184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 Spam/Ham label together with a confidence probability.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7671816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8055864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3" descr="/home/claude/spam_ppt/icon_lap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8209483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7872984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as an app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1645920" y="8266176"/>
            <a:ext cx="51846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trained model in a simple, real-time Streamlit interface.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063496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91640"/>
            <a:ext cx="206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286000"/>
            <a:ext cx="1880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labeled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9296" y="1600200"/>
            <a:ext cx="2063496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9296" y="1691640"/>
            <a:ext cx="206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840736" y="2286000"/>
            <a:ext cx="1880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&amp; Ham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95672" y="1600200"/>
            <a:ext cx="2063496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95672" y="1691640"/>
            <a:ext cx="20634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50/50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087112" y="2286000"/>
            <a:ext cx="1880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246120"/>
            <a:ext cx="65562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in dataset.csv has two columns: the raw message text and its label. Average message length is about 46 characters, and the vocabulary after cleaning is roughly 165 unique terms — a small, focused dataset.</a:t>
            </a:r>
            <a:endParaRPr lang="en-US" sz="11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2920" y="4343400"/>
          <a:ext cx="6556248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7406640"/>
            <a:ext cx="6556248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7543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messages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" y="7909560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F9616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7909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7891272"/>
            <a:ext cx="5367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“Limited time offer! Get your free coupon today.”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85800" y="8458200"/>
            <a:ext cx="685800" cy="292608"/>
          </a:xfrm>
          <a:prstGeom prst="roundRect">
            <a:avLst>
              <a:gd name="adj" fmla="val 18750"/>
            </a:avLst>
          </a:prstGeom>
          <a:solidFill>
            <a:srgbClr val="1D9A6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5800" y="84582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8439912"/>
            <a:ext cx="5367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appointment is confirmed for tomorrow.”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PREPARATION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model can learn from text, the raw messages are cleaned and standardized. This project relies on scikit-learn's TfidfVectorizer to handle most of this automatically.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pam_ppt/icon_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983" y="26506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496312"/>
            <a:ext cx="5779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816352"/>
            <a:ext cx="5779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dataset.csv with Pandas into message and label columns.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6384" y="3081528"/>
            <a:ext cx="0" cy="594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502920" y="3813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pam_ppt/icon_listu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983" y="3949111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3794760"/>
            <a:ext cx="5779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labels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280160" y="4114800"/>
            <a:ext cx="5779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text labels to numbers: spam → 1, ham → 0.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" y="4379976"/>
            <a:ext cx="0" cy="594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02920" y="5111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pam_ppt/icon_c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83" y="5247559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5093208"/>
            <a:ext cx="5779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train/test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5413248"/>
            <a:ext cx="5779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messages for training, 20% held out for testing, stratified by class.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86384" y="5678424"/>
            <a:ext cx="0" cy="594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502920" y="640994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pam_ppt/icon_fil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83" y="6546007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6391656"/>
            <a:ext cx="5779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&amp; remove stop words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280160" y="6711696"/>
            <a:ext cx="5779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TfidfVectorizer lowercases text and strips common English stop words.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86384" y="6976872"/>
            <a:ext cx="0" cy="594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502920" y="77083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pam_ppt/icon_calcula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983" y="784445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80160" y="7690104"/>
            <a:ext cx="5779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280160" y="8010144"/>
            <a:ext cx="5779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becomes a numeric TF-IDF vector the model can process.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FEATURE ENGINEERING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Extraction: TF-IDF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need numbers, not words. TF-IDF (Term Frequency – Inverse Document Frequency) turns each message into a vector that reflects how important each word 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697480"/>
            <a:ext cx="6556248" cy="1463040"/>
          </a:xfrm>
          <a:prstGeom prst="roundRect">
            <a:avLst>
              <a:gd name="adj" fmla="val 6250"/>
            </a:avLst>
          </a:prstGeom>
          <a:solidFill>
            <a:srgbClr val="262F7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TF-IDF(word) = Term Frequency × log( N / Document Frequency 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83280"/>
            <a:ext cx="6007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that appears often in one message but rarely across all messages gets a high score — it's a strong, distinguishing signal.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57200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0" descr="/home/claude/spam_ppt/icon_calc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372" y="4712452"/>
            <a:ext cx="304312" cy="304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25880" y="4553712"/>
            <a:ext cx="5733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(TF)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4919472"/>
            <a:ext cx="5733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a word appears within a single message.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576072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/home/claude/spam_ppt/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72" y="5901172"/>
            <a:ext cx="304312" cy="304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25880" y="5742432"/>
            <a:ext cx="5733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Document Frequency (IDF)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325880" y="6108192"/>
            <a:ext cx="5733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words that appear in almost every message (e.g. “the”, “is”).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6949440"/>
            <a:ext cx="585216" cy="585216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2" descr="/home/claude/spam_ppt/icon_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72" y="708989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25880" y="6931152"/>
            <a:ext cx="5733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feature vector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325880" y="7296912"/>
            <a:ext cx="57332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becomes a row of numbers — one weight per word in the vocabulary.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8366760"/>
            <a:ext cx="6556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BA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code:  TfidfVectorizer(lowercase=True, stop_words="english")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ALGORITHM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Naive Bayes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used is Multinomial Naive Bayes — a fast, simple, and highly effective algorithm for text classification tasks like spam detection.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6556248" cy="1051560"/>
          </a:xfrm>
          <a:prstGeom prst="roundRect">
            <a:avLst>
              <a:gd name="adj" fmla="val 869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61904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P(Spam | Message)  ∝  P(Spam) × Π P(wordᵢ | Spam)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88620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spam_ppt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50" y="4035430"/>
            <a:ext cx="323332" cy="3233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3867912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“Naive” assumption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371600" y="4206240"/>
            <a:ext cx="5687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assumes every word in a message contributes independently to the spam/ham decision — a simplification that works surprisingly well in practice.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539496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spam_ppt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" y="5544190"/>
            <a:ext cx="323332" cy="3233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5376672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Probability-based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5715000"/>
            <a:ext cx="5687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class (spam or ham), it multiplies the probabilities of each word occurring, then picks the class with the higher overall probability.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6903720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pam_ppt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" y="7052950"/>
            <a:ext cx="323332" cy="3233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6885432"/>
            <a:ext cx="5687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 predict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7223760"/>
            <a:ext cx="56875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trains almost instantly, even on larger datasets, making it ideal for lightweight apps like this one.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02920" y="8732520"/>
            <a:ext cx="6556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code:  MultinomialNB()  — from sklearn.naive_bayes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End-to-End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7568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spam_ppt/icon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22930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74520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Email Text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258568"/>
            <a:ext cx="5184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User-entered message string, typed or pasted into the app.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3028" y="3118104"/>
            <a:ext cx="256032" cy="219456"/>
          </a:xfrm>
          <a:prstGeom prst="downArrow">
            <a:avLst/>
          </a:prstGeom>
          <a:solidFill>
            <a:srgbClr val="F96167"/>
          </a:solidFill>
          <a:ln/>
        </p:spPr>
      </p:sp>
      <p:sp>
        <p:nvSpPr>
          <p:cNvPr id="10" name="Shape 7"/>
          <p:cNvSpPr/>
          <p:nvPr/>
        </p:nvSpPr>
        <p:spPr>
          <a:xfrm>
            <a:off x="502920" y="3337560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372160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/home/claude/spam_ppt/icon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387522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520440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904488"/>
            <a:ext cx="5184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weighted numeric features; stop words removed, lowercase applied.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3028" y="4764024"/>
            <a:ext cx="256032" cy="219456"/>
          </a:xfrm>
          <a:prstGeom prst="downArrow">
            <a:avLst/>
          </a:prstGeom>
          <a:solidFill>
            <a:srgbClr val="F96167"/>
          </a:solidFill>
          <a:ln/>
        </p:spPr>
      </p:sp>
      <p:sp>
        <p:nvSpPr>
          <p:cNvPr id="16" name="Shape 12"/>
          <p:cNvSpPr/>
          <p:nvPr/>
        </p:nvSpPr>
        <p:spPr>
          <a:xfrm>
            <a:off x="502920" y="4983480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536752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2" descr="/home/claude/spam_ppt/icon_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552114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5166360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5550408"/>
            <a:ext cx="5184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trained on labeled spam/ham TF-IDF vectors.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3028" y="6409944"/>
            <a:ext cx="256032" cy="219456"/>
          </a:xfrm>
          <a:prstGeom prst="downArrow">
            <a:avLst/>
          </a:prstGeom>
          <a:solidFill>
            <a:srgbClr val="F96167"/>
          </a:solidFill>
          <a:ln/>
        </p:spPr>
      </p:sp>
      <p:sp>
        <p:nvSpPr>
          <p:cNvPr id="22" name="Shape 17"/>
          <p:cNvSpPr/>
          <p:nvPr/>
        </p:nvSpPr>
        <p:spPr>
          <a:xfrm>
            <a:off x="502920" y="6629400"/>
            <a:ext cx="6556248" cy="1417320"/>
          </a:xfrm>
          <a:prstGeom prst="roundRect">
            <a:avLst>
              <a:gd name="adj" fmla="val 6452"/>
            </a:avLst>
          </a:prstGeom>
          <a:solidFill>
            <a:srgbClr val="262F72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7013448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3" descr="/home/claude/spam_ppt/icon_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7167067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45920" y="6812280"/>
            <a:ext cx="5184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1645920" y="7196328"/>
            <a:ext cx="51846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 Spam/Ham label plus a confidence probability for each class.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02920" y="8732520"/>
            <a:ext cx="6556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A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Pipeline([("tfidf", TfidfVectorizer(...)), ("classifier", MultinomialNB())])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TRAINING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labeled dataset is split so the model can be evaluated on messages it has never seen — the only fair way to measure real-world performance.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606040"/>
            <a:ext cx="5244998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747918" y="2606040"/>
            <a:ext cx="1311250" cy="822960"/>
          </a:xfrm>
          <a:prstGeom prst="roundRect">
            <a:avLst>
              <a:gd name="adj" fmla="val 6667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606040"/>
            <a:ext cx="52449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— Training (4,000 messages)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747918" y="2606040"/>
            <a:ext cx="13112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(1,000)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66160"/>
            <a:ext cx="6556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train_test_split(X, y, test_size=0.2, random_state=42, stratify=y)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443484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home/claude/spam_ppt/icon_c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372" y="4575292"/>
            <a:ext cx="304312" cy="30431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25880" y="4416552"/>
            <a:ext cx="5733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4764024"/>
            <a:ext cx="5733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training and test sets keep the same 50/50 spam-to-ham ratio as the full dataset.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566928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/home/claude/spam_ppt/icon_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72" y="5809732"/>
            <a:ext cx="304312" cy="30431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325880" y="5650992"/>
            <a:ext cx="5733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1325880" y="5998464"/>
            <a:ext cx="5733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random_state = 42 means the same split happens every time the script runs.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02920" y="690372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spam_ppt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72" y="7044172"/>
            <a:ext cx="304312" cy="304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25880" y="6885432"/>
            <a:ext cx="5733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train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325880" y="7232904"/>
            <a:ext cx="5733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the TF-IDF + Naive Bayes pipeline on 4,000 short messages takes well under a second.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8366760"/>
            <a:ext cx="6556248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8366760"/>
            <a:ext cx="61904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  — the entire training step, thanks to scikit-learn's Pipeline API.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556248" cy="155448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691640"/>
            <a:ext cx="65562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651760"/>
            <a:ext cx="6556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Test Accuracy  —  on 1,000 held-out messages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29000"/>
          <a:ext cx="6556248" cy="173736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  <a:gridCol w="1252728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D9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A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02920" y="5394960"/>
            <a:ext cx="6556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5888736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760720"/>
            <a:ext cx="6281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 on Ham — legitimate emails are never mislabeled as spam.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2920" y="6483096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6355080"/>
            <a:ext cx="6281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recall on Spam — every spam message in the test set was correctly caught.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7077456"/>
            <a:ext cx="100584" cy="1005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240" y="6949440"/>
            <a:ext cx="6281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vocabulary (~165 terms) was enough for strong separation between classes.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RESULTS (CONT.)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shows exactly where the model was right or wrong, broken down by actual vs. predicted class on the 1,000-message test set.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2057400"/>
            <a:ext cx="26837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4375404" y="2057400"/>
            <a:ext cx="26837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43200"/>
            <a:ext cx="1188720" cy="2683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426964"/>
            <a:ext cx="1188720" cy="2683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737360" y="2788920"/>
            <a:ext cx="2592324" cy="2592324"/>
          </a:xfrm>
          <a:prstGeom prst="roundRect">
            <a:avLst>
              <a:gd name="adj" fmla="val 2822"/>
            </a:avLst>
          </a:prstGeom>
          <a:solidFill>
            <a:srgbClr val="262F72"/>
          </a:solidFill>
          <a:ln w="25400">
            <a:solidFill>
              <a:srgbClr val="1D9A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91640" y="2880360"/>
            <a:ext cx="2683764" cy="1341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478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4353458"/>
            <a:ext cx="26837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21124" y="2788920"/>
            <a:ext cx="2592324" cy="2592324"/>
          </a:xfrm>
          <a:prstGeom prst="roundRect">
            <a:avLst>
              <a:gd name="adj" fmla="val 2822"/>
            </a:avLst>
          </a:prstGeom>
          <a:solidFill>
            <a:srgbClr val="262F72"/>
          </a:solidFill>
          <a:ln w="25400">
            <a:solidFill>
              <a:srgbClr val="8A5A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5404" y="2880360"/>
            <a:ext cx="2683764" cy="1341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375404" y="4353458"/>
            <a:ext cx="26837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37360" y="5472684"/>
            <a:ext cx="2592324" cy="2592324"/>
          </a:xfrm>
          <a:prstGeom prst="roundRect">
            <a:avLst>
              <a:gd name="adj" fmla="val 2822"/>
            </a:avLst>
          </a:prstGeom>
          <a:solidFill>
            <a:srgbClr val="262F72"/>
          </a:solidFill>
          <a:ln w="25400">
            <a:solidFill>
              <a:srgbClr val="8A5A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1640" y="5564124"/>
            <a:ext cx="2683764" cy="1341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7037222"/>
            <a:ext cx="26837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21124" y="5472684"/>
            <a:ext cx="2592324" cy="2592324"/>
          </a:xfrm>
          <a:prstGeom prst="roundRect">
            <a:avLst>
              <a:gd name="adj" fmla="val 2822"/>
            </a:avLst>
          </a:prstGeom>
          <a:solidFill>
            <a:srgbClr val="262F72"/>
          </a:solidFill>
          <a:ln w="25400">
            <a:solidFill>
              <a:srgbClr val="1D9A6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75404" y="5564124"/>
            <a:ext cx="2683764" cy="1341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375404" y="7037222"/>
            <a:ext cx="26837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854964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" y="8421624"/>
            <a:ext cx="6300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ham messages were correctly identified as Ham.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893368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" y="8805672"/>
            <a:ext cx="6300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ham messages were incorrectly flagged as Spam (false positives).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931773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" y="9189720"/>
            <a:ext cx="6300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spam messages slipped through as Ham — no missed spam.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970178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58952" y="9573768"/>
            <a:ext cx="6300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spam messages were correctly caught (true positives).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PRODUCT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App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54480"/>
            <a:ext cx="6556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interface lets anyone paste in a message and get an instant classification — no coding or ML knowledge required.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6556248" cy="5120640"/>
          </a:xfrm>
          <a:prstGeom prst="roundRect">
            <a:avLst>
              <a:gd name="adj" fmla="val 1429"/>
            </a:avLst>
          </a:prstGeom>
          <a:solidFill>
            <a:srgbClr val="F7F8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86000"/>
            <a:ext cx="6556248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14016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2414016"/>
            <a:ext cx="118872" cy="11887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7"/>
          <p:cNvSpPr/>
          <p:nvPr/>
        </p:nvSpPr>
        <p:spPr>
          <a:xfrm>
            <a:off x="1197864" y="2414016"/>
            <a:ext cx="118872" cy="1188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88920"/>
            <a:ext cx="6007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Spam Email Classifier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0400"/>
            <a:ext cx="6007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email message below. The model will classify it as spam or not spam.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3749040"/>
            <a:ext cx="600760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840480"/>
            <a:ext cx="5733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 You won a prize...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937760"/>
            <a:ext cx="6007608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4937760"/>
            <a:ext cx="6007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Check Email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5577840"/>
            <a:ext cx="6007608" cy="502920"/>
          </a:xfrm>
          <a:prstGeom prst="roundRect">
            <a:avLst>
              <a:gd name="adj" fmla="val 10909"/>
            </a:avLst>
          </a:prstGeom>
          <a:solidFill>
            <a:srgbClr val="FDECEC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5577840"/>
            <a:ext cx="5733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SPAM EMAIL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6172200"/>
            <a:ext cx="29580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6172200"/>
            <a:ext cx="2958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826764" y="6172200"/>
            <a:ext cx="2958084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26764" y="6172200"/>
            <a:ext cx="29580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97.90%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6812280"/>
            <a:ext cx="6007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Free-text input      •  One-click prediction      •  Confidence scores      •  Color-coded verdict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— IMPLEMENTATION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Highlights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00200"/>
            <a:ext cx="6556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pipeline (train_model.py)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6556248" cy="2048256"/>
          </a:xfrm>
          <a:prstGeom prst="roundRect">
            <a:avLst>
              <a:gd name="adj" fmla="val 2679"/>
            </a:avLst>
          </a:prstGeom>
          <a:solidFill>
            <a:srgbClr val="12183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6190488" cy="1865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Pipeline([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("tfidf", TfidfVectorizer(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lowercase=True,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stop_words="english")),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("classifier", MultinomialNB())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model.fit(X_train, y_train)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334256"/>
            <a:ext cx="6556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the trained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4700016"/>
            <a:ext cx="6556248" cy="813816"/>
          </a:xfrm>
          <a:prstGeom prst="roundRect">
            <a:avLst>
              <a:gd name="adj" fmla="val 6742"/>
            </a:avLst>
          </a:prstGeom>
          <a:solidFill>
            <a:srgbClr val="12183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791456"/>
            <a:ext cx="619048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open("spam_model.pkl", "wb") as f: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pickle.dump(model, f)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833872"/>
            <a:ext cx="6556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predictions in the app (app.py)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6199632"/>
            <a:ext cx="6556248" cy="813816"/>
          </a:xfrm>
          <a:prstGeom prst="roundRect">
            <a:avLst>
              <a:gd name="adj" fmla="val 6742"/>
            </a:avLst>
          </a:prstGeom>
          <a:solidFill>
            <a:srgbClr val="12183F"/>
          </a:solidFill>
          <a:ln w="12700">
            <a:solidFill>
              <a:srgbClr val="3A46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6291072"/>
            <a:ext cx="619048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 = model.predict([email])[0]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7F5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probability = model.predict_proba([email])[0]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7333488"/>
            <a:ext cx="6556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saved spam_model.pkl bundles both the vectorizer and classifier, so the app can go straight from raw text to prediction in one call.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— WRAP-UP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spam_ppt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50" y="1840870"/>
            <a:ext cx="323332" cy="3233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673352"/>
            <a:ext cx="5687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end-to-end pipeline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039112"/>
            <a:ext cx="5687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email dataset, to a trained model, to a usable web app — fully functional.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9" name="Image 1" descr="/home/claude/spam_ppt/icon_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" y="3212470"/>
            <a:ext cx="323332" cy="3233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044952"/>
            <a:ext cx="5687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test accuracy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410712"/>
            <a:ext cx="5687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combined with Naive Bayes performs strongly on this balanced, focused dataset.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44348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/home/claude/spam_ppt/icon_lap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" y="4584070"/>
            <a:ext cx="323332" cy="3233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416552"/>
            <a:ext cx="5687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interface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4782312"/>
            <a:ext cx="5687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UI needs no ML background to use — just paste a message and check.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02920" y="5806440"/>
            <a:ext cx="621792" cy="621792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/home/claude/spam_ppt/icon_rock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" y="5955670"/>
            <a:ext cx="323332" cy="3233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71600" y="5788152"/>
            <a:ext cx="5687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lightweight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1371600" y="6153912"/>
            <a:ext cx="56875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training and prediction are near-instant, making the app responsive in real time.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7269480"/>
            <a:ext cx="6556248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77240" y="7269480"/>
            <a:ext cx="6007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classical ML approach can already deliver strong, explainable spam detection — a solid foundation to build on.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— 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6556248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9248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spam_ppt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40" y="2065264"/>
            <a:ext cx="304312" cy="304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5413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real-world dataset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057400"/>
            <a:ext cx="5413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larger public corpora (e.g. SMS Spam Collection, Enron) for better generalization beyond 5,000 messages.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655624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4088" y="32964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spam_ppt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40" y="3436864"/>
            <a:ext cx="304312" cy="304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108960"/>
            <a:ext cx="5413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429000"/>
            <a:ext cx="5413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Logistic Regression, SVM, or fine-tuned transformer-based models for a potential accuracy boost.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4343400"/>
            <a:ext cx="6556248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" y="46680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spam_ppt/icon_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40" y="4808464"/>
            <a:ext cx="304312" cy="304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4480560"/>
            <a:ext cx="5413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features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4800600"/>
            <a:ext cx="5413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n-grams, message length, and URL/keyword-based features on top of TF-IDF.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02920" y="5715000"/>
            <a:ext cx="655624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" y="60396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spam_ppt/icon_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540" y="6180064"/>
            <a:ext cx="304312" cy="304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5852160"/>
            <a:ext cx="5413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testing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1463040" y="6172200"/>
            <a:ext cx="5413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model against adversarial spam that deliberately mimics legitimate wording.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02920" y="7086600"/>
            <a:ext cx="6556248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04088" y="74112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spam_ppt/icon_rock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40" y="7551664"/>
            <a:ext cx="304312" cy="30431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7223760"/>
            <a:ext cx="5413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463040" y="7543800"/>
            <a:ext cx="5413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Streamlit app publicly (Streamlit Community Cloud or Docker) for live, shareable use.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02920" y="8458200"/>
            <a:ext cx="655624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704088" y="878281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spam_ppt/icon_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40" y="8923264"/>
            <a:ext cx="304312" cy="30431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63040" y="8595360"/>
            <a:ext cx="5413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1463040" y="8915400"/>
            <a:ext cx="5413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flag misclassifications so the model can be periodically retrained and improved.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02920"/>
            <a:ext cx="6556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65562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Files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433322" cy="1737360"/>
          </a:xfrm>
          <a:prstGeom prst="roundRect">
            <a:avLst>
              <a:gd name="adj" fmla="val 6380"/>
            </a:avLst>
          </a:prstGeom>
          <a:solidFill>
            <a:srgbClr val="262F72"/>
          </a:solidFill>
          <a:ln/>
        </p:spPr>
      </p:sp>
      <p:sp>
        <p:nvSpPr>
          <p:cNvPr id="5" name="Shape 3"/>
          <p:cNvSpPr/>
          <p:nvPr/>
        </p:nvSpPr>
        <p:spPr>
          <a:xfrm>
            <a:off x="945261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6" name="Image 0" descr="/home/claude/spam_ppt/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935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514600"/>
            <a:ext cx="13418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34640"/>
            <a:ext cx="134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210562" y="1691640"/>
            <a:ext cx="1433322" cy="1737360"/>
          </a:xfrm>
          <a:prstGeom prst="roundRect">
            <a:avLst>
              <a:gd name="adj" fmla="val 6380"/>
            </a:avLst>
          </a:prstGeom>
          <a:solidFill>
            <a:srgbClr val="262F72"/>
          </a:solidFill>
          <a:ln/>
        </p:spPr>
      </p:sp>
      <p:sp>
        <p:nvSpPr>
          <p:cNvPr id="10" name="Shape 7"/>
          <p:cNvSpPr/>
          <p:nvPr/>
        </p:nvSpPr>
        <p:spPr>
          <a:xfrm>
            <a:off x="2652903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1" name="Image 1" descr="/home/claude/spam_ppt/icon_pand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577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56282" y="2514600"/>
            <a:ext cx="13418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256282" y="2834640"/>
            <a:ext cx="134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918204" y="1691640"/>
            <a:ext cx="1433322" cy="1737360"/>
          </a:xfrm>
          <a:prstGeom prst="roundRect">
            <a:avLst>
              <a:gd name="adj" fmla="val 6380"/>
            </a:avLst>
          </a:prstGeom>
          <a:solidFill>
            <a:srgbClr val="262F72"/>
          </a:solidFill>
          <a:ln/>
        </p:spPr>
      </p:sp>
      <p:sp>
        <p:nvSpPr>
          <p:cNvPr id="15" name="Shape 11"/>
          <p:cNvSpPr/>
          <p:nvPr/>
        </p:nvSpPr>
        <p:spPr>
          <a:xfrm>
            <a:off x="4360545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2" descr="/home/claude/spam_ppt/icon_skle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219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63924" y="2514600"/>
            <a:ext cx="13418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3963924" y="2834640"/>
            <a:ext cx="134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Naive Bayes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625846" y="1691640"/>
            <a:ext cx="1433322" cy="1737360"/>
          </a:xfrm>
          <a:prstGeom prst="roundRect">
            <a:avLst>
              <a:gd name="adj" fmla="val 6380"/>
            </a:avLst>
          </a:prstGeom>
          <a:solidFill>
            <a:srgbClr val="262F72"/>
          </a:solidFill>
          <a:ln/>
        </p:spPr>
      </p:sp>
      <p:sp>
        <p:nvSpPr>
          <p:cNvPr id="20" name="Shape 15"/>
          <p:cNvSpPr/>
          <p:nvPr/>
        </p:nvSpPr>
        <p:spPr>
          <a:xfrm>
            <a:off x="6068187" y="18745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/home/claude/spam_ppt/icon_streaml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861" y="200619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71566" y="2514600"/>
            <a:ext cx="134188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5671566" y="2834640"/>
            <a:ext cx="13418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502920" y="3977640"/>
            <a:ext cx="65562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02920" y="4434840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262F7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85800" y="448970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2651760" y="4489704"/>
            <a:ext cx="4224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 — the user interface and prediction logic.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02920" y="5212080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262F72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685800" y="526694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train_model.py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2651760" y="5266944"/>
            <a:ext cx="4224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dataset, trains the pipeline, evaluates it, and saves the model.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02920" y="5989320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262F7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85800" y="604418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dataset.csv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2651760" y="6044184"/>
            <a:ext cx="4224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labeled email messages (text, label).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502920" y="6766560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262F72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85800" y="682142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spam_model.pkl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2651760" y="6821424"/>
            <a:ext cx="4224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trained, pickled TF-IDF + Naive Bayes pipeline.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502920" y="7543800"/>
            <a:ext cx="6556248" cy="658368"/>
          </a:xfrm>
          <a:prstGeom prst="roundRect">
            <a:avLst>
              <a:gd name="adj" fmla="val 8333"/>
            </a:avLst>
          </a:prstGeom>
          <a:solidFill>
            <a:srgbClr val="262F72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685800" y="7598664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2651760" y="7598664"/>
            <a:ext cx="4224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scikit-learn, streamlit.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502920" y="10277856"/>
            <a:ext cx="6007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739128" y="102778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3291840" cy="329184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3" name="Shape 1"/>
          <p:cNvSpPr/>
          <p:nvPr/>
        </p:nvSpPr>
        <p:spPr>
          <a:xfrm>
            <a:off x="5550408" y="8677656"/>
            <a:ext cx="3291840" cy="3291840"/>
          </a:xfrm>
          <a:prstGeom prst="ellipse">
            <a:avLst/>
          </a:prstGeom>
          <a:solidFill>
            <a:srgbClr val="24316F"/>
          </a:solidFill>
          <a:ln/>
        </p:spPr>
      </p:sp>
      <p:sp>
        <p:nvSpPr>
          <p:cNvPr id="4" name="Shape 2"/>
          <p:cNvSpPr/>
          <p:nvPr/>
        </p:nvSpPr>
        <p:spPr>
          <a:xfrm>
            <a:off x="3278124" y="4206240"/>
            <a:ext cx="1005840" cy="10058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spam_ppt/icon_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9526" y="4447642"/>
            <a:ext cx="523037" cy="5230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5486400"/>
            <a:ext cx="6830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6263640"/>
            <a:ext cx="6830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9774936"/>
            <a:ext cx="683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Machine Learning Internship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2026-08-30T18:19:43Z</dcterms:created>
  <dcterms:modified xsi:type="dcterms:W3CDTF">2026-08-30T18:19:43Z</dcterms:modified>
</cp:coreProperties>
</file>